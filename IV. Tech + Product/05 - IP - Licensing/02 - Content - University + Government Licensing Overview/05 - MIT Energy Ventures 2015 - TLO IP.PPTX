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26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4" r:id="rId17"/>
    <p:sldId id="306" r:id="rId1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799"/>
    <a:srgbClr val="2B3595"/>
    <a:srgbClr val="262A82"/>
    <a:srgbClr val="392583"/>
    <a:srgbClr val="18128C"/>
    <a:srgbClr val="1D16AA"/>
    <a:srgbClr val="0F0F3D"/>
    <a:srgbClr val="151557"/>
    <a:srgbClr val="202082"/>
    <a:srgbClr val="2B2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605" autoAdjust="0"/>
    <p:restoredTop sz="98571" autoAdjust="0"/>
  </p:normalViewPr>
  <p:slideViewPr>
    <p:cSldViewPr>
      <p:cViewPr varScale="1">
        <p:scale>
          <a:sx n="64" d="100"/>
          <a:sy n="64" d="100"/>
        </p:scale>
        <p:origin x="-114" y="-6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1" tIns="0" rIns="19321" bIns="0" numCol="1" anchor="t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1" tIns="0" rIns="19321" bIns="0" numCol="1" anchor="t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1" tIns="0" rIns="19321" bIns="0" numCol="1" anchor="b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1" tIns="0" rIns="19321" bIns="0" numCol="1" anchor="b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fld id="{BB39C407-46BE-40A3-9B29-CD79BBED64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11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1" tIns="0" rIns="19321" bIns="0" numCol="1" anchor="t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1" tIns="0" rIns="19321" bIns="0" numCol="1" anchor="t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1" tIns="0" rIns="19321" bIns="0" numCol="1" anchor="b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1" tIns="0" rIns="19321" bIns="0" numCol="1" anchor="b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fld id="{9E338327-431A-48D1-9367-08D9C0CF2B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4838"/>
            <a:ext cx="5143500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82" tIns="46692" rIns="93382" bIns="466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76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703263"/>
            <a:ext cx="4630737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2341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66CF79-0768-4E0E-8631-EE9B4E105974}" type="slidenum">
              <a:rPr lang="en-US" smtClean="0">
                <a:latin typeface="Times New Roman" pitchFamily="18" charset="0"/>
              </a:rPr>
              <a:pPr/>
              <a:t>2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2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b="0" dirty="0" smtClean="0"/>
              <a:t>Novelty: </a:t>
            </a:r>
            <a:r>
              <a:rPr lang="en-US" sz="2000" b="0" dirty="0" smtClean="0"/>
              <a:t>Undisclosed publicly or privately;</a:t>
            </a:r>
          </a:p>
          <a:p>
            <a:pPr marL="282575" lvl="4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–"/>
            </a:pPr>
            <a:r>
              <a:rPr lang="en-US" sz="2000" b="0" dirty="0" smtClean="0"/>
              <a:t> In print, speech, posters, conferences, reports to</a:t>
            </a:r>
            <a:r>
              <a:rPr lang="en-US" sz="2000" b="0" baseline="0" dirty="0" smtClean="0"/>
              <a:t> </a:t>
            </a:r>
            <a:r>
              <a:rPr lang="en-US" sz="2000" b="0" dirty="0" smtClean="0"/>
              <a:t>associates, production or use of the idea, etc.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b="0" dirty="0" smtClean="0"/>
              <a:t> Usefulness: </a:t>
            </a:r>
          </a:p>
          <a:p>
            <a:pPr marL="282575" lvl="4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–"/>
            </a:pPr>
            <a:r>
              <a:rPr lang="en-US" sz="2000" b="0" dirty="0" smtClean="0"/>
              <a:t> The patent </a:t>
            </a:r>
            <a:r>
              <a:rPr lang="en-US" sz="2000" b="0" u="sng" dirty="0" smtClean="0"/>
              <a:t>teaches</a:t>
            </a:r>
            <a:r>
              <a:rPr lang="en-US" sz="2000" b="0" dirty="0" smtClean="0"/>
              <a:t> the reader how to solve a</a:t>
            </a:r>
            <a:r>
              <a:rPr lang="en-US" sz="2000" b="0" baseline="0" dirty="0" smtClean="0"/>
              <a:t> </a:t>
            </a:r>
            <a:r>
              <a:rPr lang="en-US" sz="2000" b="0" dirty="0" smtClean="0"/>
              <a:t>problem better than with the “prior art”.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b="0" dirty="0" smtClean="0"/>
              <a:t> Non-obviousness:</a:t>
            </a:r>
          </a:p>
          <a:p>
            <a:pPr marL="282575" lvl="4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–"/>
            </a:pPr>
            <a:r>
              <a:rPr lang="en-US" sz="2000" b="0" dirty="0" smtClean="0"/>
              <a:t>  To someone “skilled in the art”.</a:t>
            </a:r>
          </a:p>
          <a:p>
            <a:pPr marL="282575" lvl="4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–"/>
            </a:pPr>
            <a:r>
              <a:rPr lang="en-US" sz="2000" b="0" dirty="0" smtClean="0"/>
              <a:t>  “They said it couldn’t be done” is a strong argument.</a:t>
            </a:r>
          </a:p>
          <a:p>
            <a:pPr marL="282575" lvl="4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–"/>
            </a:pPr>
            <a:r>
              <a:rPr lang="en-US" sz="2000" b="0" dirty="0" smtClean="0"/>
              <a:t>  “No one has done it before” is a weak argument.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338327-431A-48D1-9367-08D9C0CF2B0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88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2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b="0" dirty="0" smtClean="0"/>
              <a:t>Novelty: </a:t>
            </a:r>
            <a:r>
              <a:rPr lang="en-US" sz="2000" b="0" dirty="0" smtClean="0"/>
              <a:t>Undisclosed publicly or privately:</a:t>
            </a:r>
            <a:r>
              <a:rPr lang="en-US" sz="2000" b="0" baseline="0" dirty="0" smtClean="0"/>
              <a:t> </a:t>
            </a:r>
            <a:r>
              <a:rPr lang="en-US" sz="2000" b="0" dirty="0" smtClean="0"/>
              <a:t>In print, speech, posters, conferences, reports to</a:t>
            </a:r>
            <a:r>
              <a:rPr lang="en-US" sz="2000" b="0" baseline="0" dirty="0" smtClean="0"/>
              <a:t> </a:t>
            </a:r>
            <a:r>
              <a:rPr lang="en-US" sz="2000" b="0" dirty="0" smtClean="0"/>
              <a:t>associates, production or use of the idea, etc.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b="0" dirty="0" smtClean="0"/>
              <a:t> Usefulness:</a:t>
            </a:r>
            <a:r>
              <a:rPr lang="en-US" sz="2400" b="0" baseline="0" dirty="0" smtClean="0"/>
              <a:t> </a:t>
            </a:r>
            <a:r>
              <a:rPr lang="en-US" sz="2000" b="0" dirty="0" smtClean="0"/>
              <a:t>The patent </a:t>
            </a:r>
            <a:r>
              <a:rPr lang="en-US" sz="2000" b="0" u="sng" dirty="0" smtClean="0"/>
              <a:t>teaches</a:t>
            </a:r>
            <a:r>
              <a:rPr lang="en-US" sz="2000" b="0" dirty="0" smtClean="0"/>
              <a:t> the reader how to solve a</a:t>
            </a:r>
            <a:r>
              <a:rPr lang="en-US" sz="2000" b="0" baseline="0" dirty="0" smtClean="0"/>
              <a:t> </a:t>
            </a:r>
            <a:r>
              <a:rPr lang="en-US" sz="2000" b="0" dirty="0" smtClean="0"/>
              <a:t>problem better than with the “prior art”.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b="0" dirty="0" smtClean="0"/>
              <a:t> Non-obviousness:</a:t>
            </a:r>
            <a:r>
              <a:rPr lang="en-US" sz="2400" b="0" baseline="0" dirty="0" smtClean="0"/>
              <a:t> </a:t>
            </a:r>
            <a:r>
              <a:rPr lang="en-US" sz="2000" b="0" dirty="0" smtClean="0"/>
              <a:t>“They said it couldn’t be done” is a strong argument.</a:t>
            </a:r>
            <a:r>
              <a:rPr lang="en-US" sz="2000" b="0" baseline="0" dirty="0" smtClean="0"/>
              <a:t> </a:t>
            </a:r>
            <a:r>
              <a:rPr lang="en-US" sz="2000" b="0" dirty="0" smtClean="0"/>
              <a:t>“No one has done it before” is a weak argument.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endParaRPr lang="en-US" sz="2000" b="0" dirty="0" smtClean="0"/>
          </a:p>
          <a:p>
            <a:pPr marL="0" lvl="1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US" sz="2000" b="0" dirty="0" smtClean="0"/>
              <a:t>Non-inventors can</a:t>
            </a:r>
            <a:r>
              <a:rPr lang="en-US" sz="2000" b="0" baseline="0" dirty="0" smtClean="0"/>
              <a:t> share royalties.</a:t>
            </a:r>
            <a:endParaRPr lang="en-US" sz="2000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338327-431A-48D1-9367-08D9C0CF2B0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88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5915"/>
            <a:fld id="{974F70C4-E413-4350-9A1C-F4BC95E85700}" type="slidenum">
              <a:rPr lang="en-US" smtClean="0">
                <a:latin typeface="Times New Roman" pitchFamily="18" charset="0"/>
              </a:rPr>
              <a:pPr defTabSz="925915"/>
              <a:t>6</a:t>
            </a:fld>
            <a:endParaRPr lang="en-US" dirty="0" smtClean="0"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52036-90F7-4BA8-B1AD-63BC4C2658E8}" type="slidenum">
              <a:rPr lang="en-US" smtClean="0">
                <a:latin typeface="Times New Roman" pitchFamily="18" charset="0"/>
              </a:rPr>
              <a:pPr/>
              <a:t>8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74535D-532F-4512-9EBA-A267266F40ED}" type="slidenum">
              <a:rPr lang="en-US" smtClean="0">
                <a:latin typeface="Times New Roman" pitchFamily="18" charset="0"/>
              </a:rPr>
              <a:pPr/>
              <a:t>9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3645FB-6935-4B2C-A73F-9AD4D414B23C}" type="slidenum">
              <a:rPr lang="en-US" smtClean="0">
                <a:latin typeface="Times New Roman" pitchFamily="18" charset="0"/>
              </a:rPr>
              <a:pPr/>
              <a:t>10</a:t>
            </a:fld>
            <a:endParaRPr lang="en-US" dirty="0" smtClean="0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7BD0A3-76BB-4866-B99A-B75F03959670}" type="slidenum">
              <a:rPr lang="en-US" smtClean="0">
                <a:latin typeface="Times New Roman" pitchFamily="18" charset="0"/>
              </a:rPr>
              <a:pPr/>
              <a:t>11</a:t>
            </a:fld>
            <a:endParaRPr lang="en-US" dirty="0" smtClean="0">
              <a:latin typeface="Times New Roman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3E08DF-83A6-41CA-9A83-902FC43F5FF1}" type="slidenum">
              <a:rPr lang="en-US" smtClean="0">
                <a:latin typeface="Times New Roman" pitchFamily="18" charset="0"/>
              </a:rPr>
              <a:pPr/>
              <a:t>12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5915"/>
            <a:fld id="{974F70C4-E413-4350-9A1C-F4BC95E85700}" type="slidenum">
              <a:rPr lang="en-US" smtClean="0">
                <a:latin typeface="Times New Roman" pitchFamily="18" charset="0"/>
              </a:rPr>
              <a:pPr defTabSz="925915"/>
              <a:t>13</a:t>
            </a:fld>
            <a:endParaRPr lang="en-US" dirty="0" smtClean="0"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66CF79-0768-4E0E-8631-EE9B4E105974}" type="slidenum">
              <a:rPr lang="en-US" smtClean="0">
                <a:latin typeface="Times New Roman" pitchFamily="18" charset="0"/>
              </a:rPr>
              <a:pPr/>
              <a:t>17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335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335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6"/>
          <p:cNvSpPr>
            <a:spLocks noChangeArrowheads="1"/>
          </p:cNvSpPr>
          <p:nvPr/>
        </p:nvSpPr>
        <p:spPr bwMode="auto">
          <a:xfrm>
            <a:off x="457200" y="6400800"/>
            <a:ext cx="66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64" tIns="46033" rIns="92064" bIns="46033" anchor="ctr"/>
          <a:lstStyle/>
          <a:p>
            <a:pPr algn="ctr" eaLnBrk="0" hangingPunct="0">
              <a:defRPr/>
            </a:pPr>
            <a:endParaRPr lang="en-US" sz="700" b="1"/>
          </a:p>
        </p:txBody>
      </p:sp>
      <p:sp>
        <p:nvSpPr>
          <p:cNvPr id="6146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685800" y="152401"/>
            <a:ext cx="7772400" cy="1066800"/>
          </a:xfrm>
        </p:spPr>
        <p:txBody>
          <a:bodyPr/>
          <a:lstStyle>
            <a:lvl1pPr>
              <a:lnSpc>
                <a:spcPts val="4000"/>
              </a:lnSpc>
              <a:defRPr sz="3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202" name="Rectangle 210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209800"/>
            <a:ext cx="6400800" cy="1752600"/>
          </a:xfrm>
          <a:ln w="12700">
            <a:headEnd type="none" w="sm" len="sm"/>
            <a:tailEnd type="none" w="sm" len="sm"/>
          </a:ln>
        </p:spPr>
        <p:txBody>
          <a:bodyPr lIns="91440" tIns="45720" rIns="91440" bIns="45720"/>
          <a:lstStyle>
            <a:lvl1pPr marL="0" indent="0" algn="ctr">
              <a:lnSpc>
                <a:spcPct val="100000"/>
              </a:lnSpc>
              <a:spcBef>
                <a:spcPct val="50000"/>
              </a:spcBef>
              <a:spcAft>
                <a:spcPct val="50000"/>
              </a:spcAft>
              <a:buFontTx/>
              <a:buNone/>
              <a:defRPr sz="2200"/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64" tIns="46033" rIns="92064" bIns="460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152400"/>
            <a:ext cx="7086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64" tIns="46033" rIns="92064" bIns="4603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grpSp>
        <p:nvGrpSpPr>
          <p:cNvPr id="6" name="Group 5"/>
          <p:cNvGrpSpPr>
            <a:grpSpLocks/>
          </p:cNvGrpSpPr>
          <p:nvPr userDrawn="1"/>
        </p:nvGrpSpPr>
        <p:grpSpPr bwMode="auto">
          <a:xfrm>
            <a:off x="228600" y="6373411"/>
            <a:ext cx="493717" cy="261938"/>
            <a:chOff x="728" y="3915"/>
            <a:chExt cx="311" cy="165"/>
          </a:xfrm>
        </p:grpSpPr>
        <p:sp>
          <p:nvSpPr>
            <p:cNvPr id="7" name="Rectangle 6"/>
            <p:cNvSpPr>
              <a:spLocks noChangeAspect="1" noChangeArrowheads="1"/>
            </p:cNvSpPr>
            <p:nvPr/>
          </p:nvSpPr>
          <p:spPr bwMode="auto">
            <a:xfrm>
              <a:off x="839" y="3916"/>
              <a:ext cx="33" cy="164"/>
            </a:xfrm>
            <a:prstGeom prst="rect">
              <a:avLst/>
            </a:prstGeom>
            <a:solidFill>
              <a:srgbClr val="9933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Rectangle 7"/>
            <p:cNvSpPr>
              <a:spLocks noChangeAspect="1" noChangeArrowheads="1"/>
            </p:cNvSpPr>
            <p:nvPr/>
          </p:nvSpPr>
          <p:spPr bwMode="auto">
            <a:xfrm>
              <a:off x="782" y="3916"/>
              <a:ext cx="33" cy="112"/>
            </a:xfrm>
            <a:prstGeom prst="rect">
              <a:avLst/>
            </a:prstGeom>
            <a:solidFill>
              <a:srgbClr val="9933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Rectangle 8"/>
            <p:cNvSpPr>
              <a:spLocks noChangeAspect="1" noChangeArrowheads="1"/>
            </p:cNvSpPr>
            <p:nvPr/>
          </p:nvSpPr>
          <p:spPr bwMode="auto">
            <a:xfrm>
              <a:off x="728" y="3916"/>
              <a:ext cx="33" cy="164"/>
            </a:xfrm>
            <a:prstGeom prst="rect">
              <a:avLst/>
            </a:prstGeom>
            <a:solidFill>
              <a:srgbClr val="9933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Rectangle 9"/>
            <p:cNvSpPr>
              <a:spLocks noChangeAspect="1" noChangeArrowheads="1"/>
            </p:cNvSpPr>
            <p:nvPr/>
          </p:nvSpPr>
          <p:spPr bwMode="auto">
            <a:xfrm>
              <a:off x="896" y="3967"/>
              <a:ext cx="33" cy="112"/>
            </a:xfrm>
            <a:prstGeom prst="rect">
              <a:avLst/>
            </a:prstGeom>
            <a:solidFill>
              <a:srgbClr val="666A7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Rectangle 11"/>
            <p:cNvSpPr>
              <a:spLocks noChangeAspect="1" noChangeArrowheads="1"/>
            </p:cNvSpPr>
            <p:nvPr/>
          </p:nvSpPr>
          <p:spPr bwMode="auto">
            <a:xfrm>
              <a:off x="950" y="3967"/>
              <a:ext cx="33" cy="112"/>
            </a:xfrm>
            <a:prstGeom prst="rect">
              <a:avLst/>
            </a:prstGeom>
            <a:solidFill>
              <a:srgbClr val="9933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" name="Rectangle 12"/>
            <p:cNvSpPr>
              <a:spLocks noChangeAspect="1" noChangeArrowheads="1"/>
            </p:cNvSpPr>
            <p:nvPr/>
          </p:nvSpPr>
          <p:spPr bwMode="auto">
            <a:xfrm>
              <a:off x="895" y="3915"/>
              <a:ext cx="32" cy="33"/>
            </a:xfrm>
            <a:prstGeom prst="rect">
              <a:avLst/>
            </a:prstGeom>
            <a:solidFill>
              <a:srgbClr val="9933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" name="Rectangle 13"/>
            <p:cNvSpPr>
              <a:spLocks noChangeAspect="1" noChangeArrowheads="1"/>
            </p:cNvSpPr>
            <p:nvPr/>
          </p:nvSpPr>
          <p:spPr bwMode="auto">
            <a:xfrm>
              <a:off x="950" y="3915"/>
              <a:ext cx="89" cy="33"/>
            </a:xfrm>
            <a:prstGeom prst="rect">
              <a:avLst/>
            </a:prstGeom>
            <a:solidFill>
              <a:srgbClr val="9933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pic>
        <p:nvPicPr>
          <p:cNvPr id="15" name="Picture 14" descr="Z:\Presentations\Templates\TLO_logo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99" y="6324600"/>
            <a:ext cx="2375132" cy="386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7726210" y="6477000"/>
            <a:ext cx="1265390" cy="235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CRN   </a:t>
            </a:r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11/19/15  </a:t>
            </a:r>
            <a:r>
              <a:rPr kumimoji="0" lang="en-US" sz="8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sz="8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fld id="{AB6508C4-F47A-4B9D-A122-D90DD3092231}" type="slidenum">
              <a:rPr kumimoji="0" lang="en-US" sz="800" i="0" u="none" strike="noStrike" kern="1200" cap="none" spc="0" normalizeH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</p:sldLayoutIdLst>
  <p:hf hdr="0" dt="0"/>
  <p:txStyles>
    <p:titleStyle>
      <a:lvl1pPr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25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862013" indent="-341313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–"/>
        <a:defRPr b="1">
          <a:solidFill>
            <a:schemeClr val="tx1"/>
          </a:solidFill>
          <a:latin typeface="+mn-lt"/>
        </a:defRPr>
      </a:lvl2pPr>
      <a:lvl3pPr marL="1204913" indent="-2286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600" b="1">
          <a:solidFill>
            <a:schemeClr val="tx1"/>
          </a:solidFill>
          <a:latin typeface="+mn-lt"/>
        </a:defRPr>
      </a:lvl3pPr>
      <a:lvl4pPr marL="1546225" indent="-119063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4pPr>
      <a:lvl5pPr marL="18288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5pPr>
      <a:lvl6pPr marL="22860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6pPr>
      <a:lvl7pPr marL="27432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7pPr>
      <a:lvl8pPr marL="32004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8pPr>
      <a:lvl9pPr marL="36576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rn@mit.edu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crn@mit.edu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600200"/>
            <a:ext cx="5029200" cy="990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 smtClean="0"/>
              <a:t>Protect your invention &amp; turn it into a startup!</a:t>
            </a:r>
            <a:endParaRPr lang="en-US" sz="320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85800" y="3505200"/>
            <a:ext cx="77724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64" tIns="46033" rIns="92064" bIns="46033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Chris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Noble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Technology Licensing Officer 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/>
              </a:rPr>
              <a:t>crn@mit.edu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617-253-6966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Pct val="125000"/>
              <a:buFontTx/>
              <a:buNone/>
              <a:tabLst/>
              <a:defRPr/>
            </a:pPr>
            <a:endParaRPr kumimoji="0" lang="en-US" sz="2000" b="0" i="0" u="sng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309" y="609600"/>
            <a:ext cx="6985382" cy="762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All this “Inventions” stuff…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3429000"/>
            <a:ext cx="7772400" cy="8382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800" dirty="0" smtClean="0"/>
              <a:t>All you </a:t>
            </a:r>
            <a:r>
              <a:rPr lang="en-US" sz="2800" dirty="0" smtClean="0"/>
              <a:t>really need </a:t>
            </a:r>
            <a:r>
              <a:rPr lang="en-US" sz="2800" dirty="0" smtClean="0"/>
              <a:t>to know: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0" dirty="0" smtClean="0"/>
              <a:t>When in doubt, contact the </a:t>
            </a:r>
            <a:r>
              <a:rPr lang="en-US" b="0" dirty="0" err="1" smtClean="0"/>
              <a:t>TLO</a:t>
            </a:r>
            <a:r>
              <a:rPr lang="en-US" b="0" dirty="0" smtClean="0"/>
              <a:t> to discuss!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71800" y="531489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We have coffee and tea.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971800" y="424809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Sooner rather than later.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971800" y="462909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FontTx/>
              <a:buNone/>
            </a:pPr>
            <a:r>
              <a:rPr lang="en-US" sz="2000" dirty="0"/>
              <a:t>We are here to help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69589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Sometimes donuts.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 rot="872404">
            <a:off x="525747" y="2308059"/>
            <a:ext cx="4096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dirty="0" smtClean="0">
                <a:solidFill>
                  <a:srgbClr val="C00000"/>
                </a:solidFill>
              </a:rPr>
              <a:t>tartups </a:t>
            </a:r>
            <a:r>
              <a:rPr lang="en-US" dirty="0">
                <a:solidFill>
                  <a:srgbClr val="C00000"/>
                </a:solidFill>
              </a:rPr>
              <a:t>with MIT </a:t>
            </a:r>
            <a:r>
              <a:rPr lang="en-US" dirty="0" smtClean="0">
                <a:solidFill>
                  <a:srgbClr val="C00000"/>
                </a:solidFill>
              </a:rPr>
              <a:t>technology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1461361">
            <a:off x="6709269" y="722034"/>
            <a:ext cx="2291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dirty="0" smtClean="0">
                <a:solidFill>
                  <a:srgbClr val="C00000"/>
                </a:solidFill>
              </a:rPr>
              <a:t>ponsor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 smtClean="0">
                <a:solidFill>
                  <a:srgbClr val="C00000"/>
                </a:solidFill>
              </a:rPr>
              <a:t>ights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 rot="382549">
            <a:off x="443640" y="529643"/>
            <a:ext cx="1487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icensing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rot="20314924">
            <a:off x="6649792" y="1956046"/>
            <a:ext cx="148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</a:t>
            </a:r>
            <a:r>
              <a:rPr lang="en-US" dirty="0" smtClean="0">
                <a:solidFill>
                  <a:srgbClr val="C00000"/>
                </a:solidFill>
              </a:rPr>
              <a:t>atenting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785512">
            <a:off x="5105400" y="2819400"/>
            <a:ext cx="3659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Is it a “public” disclosure?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 rot="20812966">
            <a:off x="3555968" y="1576743"/>
            <a:ext cx="2906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Who is an inventor?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rot="21225503">
            <a:off x="7001309" y="4303601"/>
            <a:ext cx="1846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</a:t>
            </a:r>
            <a:r>
              <a:rPr lang="en-US" dirty="0" smtClean="0">
                <a:solidFill>
                  <a:srgbClr val="C00000"/>
                </a:solidFill>
              </a:rPr>
              <a:t>ublications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 rot="525535">
            <a:off x="1102606" y="1369368"/>
            <a:ext cx="2032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Who owns it?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rot="20754730">
            <a:off x="295662" y="5010519"/>
            <a:ext cx="2121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onfidentiality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 rot="967438">
            <a:off x="6121295" y="5311340"/>
            <a:ext cx="2940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Patent or copyright?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 rot="20816837">
            <a:off x="247616" y="3026719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</a:t>
            </a:r>
            <a:r>
              <a:rPr lang="en-US" dirty="0" smtClean="0">
                <a:solidFill>
                  <a:srgbClr val="C00000"/>
                </a:solidFill>
              </a:rPr>
              <a:t>aterial transfers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4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3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57200"/>
            <a:ext cx="7086600" cy="762000"/>
          </a:xfrm>
        </p:spPr>
        <p:txBody>
          <a:bodyPr/>
          <a:lstStyle/>
          <a:p>
            <a:r>
              <a:rPr lang="en-US" dirty="0" smtClean="0"/>
              <a:t>What is a patentable invention?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93954" y="3505200"/>
            <a:ext cx="7135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/>
            <a:r>
              <a:rPr lang="en-US" dirty="0" smtClean="0"/>
              <a:t>1. </a:t>
            </a:r>
            <a:r>
              <a:rPr lang="en-US" u="sng" dirty="0" smtClean="0"/>
              <a:t>Novel</a:t>
            </a:r>
            <a:r>
              <a:rPr lang="en-US" dirty="0" smtClean="0"/>
              <a:t>: No one has </a:t>
            </a:r>
            <a:r>
              <a:rPr lang="en-US" i="1" dirty="0" smtClean="0"/>
              <a:t>described it publicly</a:t>
            </a:r>
            <a:r>
              <a:rPr lang="en-US" dirty="0" smtClean="0"/>
              <a:t> before;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560" y="3966865"/>
            <a:ext cx="809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/>
            <a:r>
              <a:rPr lang="en-US" dirty="0" smtClean="0"/>
              <a:t>2. </a:t>
            </a:r>
            <a:r>
              <a:rPr lang="en-US" u="sng" dirty="0" smtClean="0"/>
              <a:t>Useful</a:t>
            </a:r>
            <a:r>
              <a:rPr lang="en-US" dirty="0" smtClean="0"/>
              <a:t>: Provides a </a:t>
            </a:r>
            <a:r>
              <a:rPr lang="en-US" i="1" dirty="0" smtClean="0"/>
              <a:t>reproducible </a:t>
            </a:r>
            <a:r>
              <a:rPr lang="en-US" dirty="0" smtClean="0"/>
              <a:t>solution </a:t>
            </a:r>
            <a:r>
              <a:rPr lang="en-US" dirty="0" smtClean="0"/>
              <a:t>to </a:t>
            </a:r>
            <a:r>
              <a:rPr lang="en-US" dirty="0" smtClean="0"/>
              <a:t>the </a:t>
            </a:r>
            <a:r>
              <a:rPr lang="en-US" dirty="0" smtClean="0"/>
              <a:t>problem;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2406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en-US" dirty="0" smtClean="0"/>
              <a:t>3. </a:t>
            </a:r>
            <a:r>
              <a:rPr lang="en-US" u="sng" dirty="0" smtClean="0"/>
              <a:t>Non-obvious</a:t>
            </a:r>
            <a:r>
              <a:rPr lang="en-US" dirty="0" smtClean="0"/>
              <a:t>: When described to “</a:t>
            </a:r>
            <a:r>
              <a:rPr lang="en-US" i="1" dirty="0" smtClean="0"/>
              <a:t>one skilled in the art</a:t>
            </a:r>
            <a:r>
              <a:rPr lang="en-US" dirty="0" smtClean="0"/>
              <a:t>”.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66800" y="1447800"/>
            <a:ext cx="701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 </a:t>
            </a:r>
            <a:r>
              <a:rPr lang="en-US" i="1" dirty="0" smtClean="0"/>
              <a:t>non-naturally occurring</a:t>
            </a:r>
            <a:r>
              <a:rPr lang="en-US" dirty="0" smtClean="0"/>
              <a:t> composition of matter;</a:t>
            </a:r>
          </a:p>
          <a:p>
            <a:pPr algn="ctr"/>
            <a:r>
              <a:rPr lang="en-US" dirty="0" smtClean="0"/>
              <a:t>or an apparatus/machine/algorithm;</a:t>
            </a:r>
          </a:p>
          <a:p>
            <a:pPr algn="ctr"/>
            <a:r>
              <a:rPr lang="en-US" dirty="0" smtClean="0"/>
              <a:t>or a method;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9400" y="2891135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en-US" dirty="0"/>
              <a:t>t</a:t>
            </a:r>
            <a:r>
              <a:rPr lang="en-US" dirty="0" smtClean="0"/>
              <a:t>hat 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25780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en-US" sz="1800" i="1" dirty="0" smtClean="0"/>
              <a:t>Note: “Useful” does not mean commercially valuable. The Patent Office does not pass judgment on that. Most patents are never commercialized…</a:t>
            </a: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2686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9" grpId="0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3400"/>
            <a:ext cx="7467600" cy="762000"/>
          </a:xfrm>
        </p:spPr>
        <p:txBody>
          <a:bodyPr/>
          <a:lstStyle/>
          <a:p>
            <a:r>
              <a:rPr lang="en-US" sz="3600" dirty="0" smtClean="0"/>
              <a:t>Who are the inventors?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219200" y="2590800"/>
            <a:ext cx="670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Not crunching the data, cheerleading, identifying the problem to be worked on, asking good questions, providing financial support, being a super-dedicated member of the group, making the previous invention...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1447800"/>
            <a:ext cx="563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Individuals who made contributions to the </a:t>
            </a:r>
            <a:r>
              <a:rPr lang="en-US" i="1" dirty="0" smtClean="0"/>
              <a:t>issued claims </a:t>
            </a:r>
            <a:r>
              <a:rPr lang="en-US" dirty="0" smtClean="0"/>
              <a:t>of the patent.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2600" y="3512403"/>
            <a:ext cx="563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/>
              <a:t>Inventorship</a:t>
            </a:r>
            <a:r>
              <a:rPr lang="en-US" sz="1600" dirty="0" smtClean="0"/>
              <a:t> criteria are different, tighter and more “objective” than authorship of a scientific paper. A paper with many authors can turn into a patent with fewer inventors.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6482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An issued patent with incorrect inventors can be challenged and overturned.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334000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Talk to the </a:t>
            </a:r>
            <a:r>
              <a:rPr lang="en-US" sz="1800" dirty="0" err="1" smtClean="0"/>
              <a:t>TLO</a:t>
            </a:r>
            <a:r>
              <a:rPr lang="en-US" sz="1800" dirty="0" smtClean="0"/>
              <a:t> if there is </a:t>
            </a:r>
            <a:r>
              <a:rPr lang="en-US" sz="1800" dirty="0" err="1" smtClean="0"/>
              <a:t>inventorship</a:t>
            </a:r>
            <a:r>
              <a:rPr lang="en-US" sz="1800" dirty="0" smtClean="0"/>
              <a:t> uncertainty. Our patent attorneys resolve these questions impartially.</a:t>
            </a:r>
          </a:p>
        </p:txBody>
      </p:sp>
    </p:spTree>
    <p:extLst>
      <p:ext uri="{BB962C8B-B14F-4D97-AF65-F5344CB8AC3E}">
        <p14:creationId xmlns:p14="http://schemas.microsoft.com/office/powerpoint/2010/main" val="337994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8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762000"/>
          </a:xfrm>
        </p:spPr>
        <p:txBody>
          <a:bodyPr/>
          <a:lstStyle/>
          <a:p>
            <a:r>
              <a:rPr lang="en-US" sz="3200" dirty="0" smtClean="0"/>
              <a:t>Who can you disclose your invention to?</a:t>
            </a:r>
            <a:br>
              <a:rPr lang="en-US" sz="3200" dirty="0" smtClean="0"/>
            </a:br>
            <a:r>
              <a:rPr lang="en-US" sz="2000" dirty="0" smtClean="0"/>
              <a:t>(without a signed “NDA”)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295400" y="2667000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en-US" dirty="0" smtClean="0"/>
              <a:t>1. Specific people (who you keep a record of);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6974" y="3352800"/>
            <a:ext cx="5077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/>
            <a:r>
              <a:rPr lang="en-US" dirty="0" smtClean="0"/>
              <a:t>2. In order to “perfect the invention”;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403860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en-US" dirty="0" smtClean="0"/>
              <a:t>3. Who agree to keep it confidential.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07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305800" cy="685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smtClean="0">
                <a:cs typeface="Times New Roman" pitchFamily="18" charset="0"/>
              </a:rPr>
              <a:t>Does MIT own </a:t>
            </a:r>
            <a:r>
              <a:rPr lang="en-US" i="1" dirty="0" smtClean="0">
                <a:cs typeface="Times New Roman" pitchFamily="18" charset="0"/>
              </a:rPr>
              <a:t>everything</a:t>
            </a:r>
            <a:r>
              <a:rPr lang="en-US" dirty="0" smtClean="0">
                <a:cs typeface="Times New Roman" pitchFamily="18" charset="0"/>
              </a:rPr>
              <a:t> I invent?</a:t>
            </a:r>
            <a:endParaRPr lang="en-US" sz="2400" dirty="0" smtClean="0">
              <a:cs typeface="Times New Roman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2133600"/>
            <a:ext cx="6553200" cy="3124200"/>
          </a:xfrm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b="0" dirty="0" smtClean="0">
                <a:cs typeface="Times New Roman" pitchFamily="18" charset="0"/>
              </a:rPr>
              <a:t>Not if:</a:t>
            </a:r>
          </a:p>
          <a:p>
            <a:pPr lvl="1" eaLnBrk="1" hangingPunct="1">
              <a:spcBef>
                <a:spcPts val="600"/>
              </a:spcBef>
            </a:pPr>
            <a:r>
              <a:rPr lang="en-US" b="0" dirty="0" smtClean="0">
                <a:cs typeface="Times New Roman" pitchFamily="18" charset="0"/>
              </a:rPr>
              <a:t>Unrelated to MIT-administered research project;</a:t>
            </a:r>
          </a:p>
          <a:p>
            <a:pPr lvl="1" eaLnBrk="1" hangingPunct="1">
              <a:spcBef>
                <a:spcPts val="600"/>
              </a:spcBef>
            </a:pP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Did not use MIT funding;</a:t>
            </a:r>
          </a:p>
          <a:p>
            <a:pPr lvl="1" eaLnBrk="1" hangingPunct="1">
              <a:spcBef>
                <a:spcPts val="600"/>
              </a:spcBef>
            </a:pPr>
            <a:r>
              <a:rPr lang="en-US" b="0" dirty="0" smtClean="0">
                <a:cs typeface="Times New Roman" pitchFamily="18" charset="0"/>
              </a:rPr>
              <a:t>Did not use MIT facilities (excludes libraries and PCs).</a:t>
            </a:r>
          </a:p>
          <a:p>
            <a:pPr marL="520700" lvl="1" indent="0" eaLnBrk="1" hangingPunct="1">
              <a:spcBef>
                <a:spcPts val="600"/>
              </a:spcBef>
              <a:buNone/>
            </a:pPr>
            <a:endParaRPr lang="en-US" b="0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cs typeface="Times New Roman" pitchFamily="18" charset="0"/>
              </a:rPr>
              <a:t>When in doubt, disclose your personal invention to the TLO</a:t>
            </a:r>
            <a:r>
              <a:rPr lang="en-US" b="0" dirty="0">
                <a:cs typeface="Times New Roman" pitchFamily="18" charset="0"/>
              </a:rPr>
              <a:t> </a:t>
            </a:r>
            <a:r>
              <a:rPr lang="en-US" b="0" dirty="0" smtClean="0">
                <a:cs typeface="Times New Roman" pitchFamily="18" charset="0"/>
              </a:rPr>
              <a:t>to confirm;</a:t>
            </a:r>
            <a:endParaRPr lang="en-US" b="0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And you can request an MIT “waiver letter”.</a:t>
            </a: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b="0" dirty="0" smtClean="0">
                <a:cs typeface="Times New Roman" pitchFamily="18" charset="0"/>
              </a:rPr>
              <a:t>he </a:t>
            </a:r>
            <a:r>
              <a:rPr lang="en-US" b="0" dirty="0">
                <a:cs typeface="Times New Roman" pitchFamily="18" charset="0"/>
              </a:rPr>
              <a:t>letter may be useful to you in the future</a:t>
            </a:r>
            <a:r>
              <a:rPr lang="en-US" b="0" dirty="0" smtClean="0">
                <a:cs typeface="Times New Roman" pitchFamily="18" charset="0"/>
              </a:rPr>
              <a:t>.</a:t>
            </a:r>
            <a:endParaRPr lang="en-US" b="0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</a:pPr>
            <a:endParaRPr lang="en-US" b="0" dirty="0" smtClean="0">
              <a:solidFill>
                <a:schemeClr val="tx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3987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34975"/>
            <a:ext cx="7848600" cy="708025"/>
          </a:xfrm>
        </p:spPr>
        <p:txBody>
          <a:bodyPr/>
          <a:lstStyle/>
          <a:p>
            <a:r>
              <a:rPr lang="en-US" dirty="0"/>
              <a:t>7</a:t>
            </a:r>
            <a:r>
              <a:rPr lang="en-US" dirty="0" smtClean="0"/>
              <a:t> patenting tips: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451550"/>
            <a:ext cx="746313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spcAft>
                <a:spcPts val="0"/>
              </a:spcAft>
            </a:pPr>
            <a:r>
              <a:rPr lang="en-US" sz="1800" dirty="0" smtClean="0"/>
              <a:t>(1) Patents are easy and expensive to get…</a:t>
            </a:r>
          </a:p>
          <a:p>
            <a:pPr marL="342900" indent="-342900" algn="ctr">
              <a:spcAft>
                <a:spcPts val="1200"/>
              </a:spcAft>
            </a:pPr>
            <a:r>
              <a:rPr lang="en-US" sz="1800" dirty="0" smtClean="0"/>
              <a:t>… but hard and expensive to enforce.</a:t>
            </a:r>
            <a:endParaRPr lang="en-US" sz="1600" dirty="0" smtClean="0"/>
          </a:p>
          <a:p>
            <a:pPr marL="342900" indent="-342900" algn="ctr">
              <a:spcAft>
                <a:spcPts val="1200"/>
              </a:spcAft>
            </a:pPr>
            <a:r>
              <a:rPr lang="en-US" sz="1800" dirty="0" smtClean="0"/>
              <a:t>(2) What is better: Composition, Apparatus, or Method patents?</a:t>
            </a:r>
            <a:endParaRPr lang="en-US" sz="1600" dirty="0" smtClean="0"/>
          </a:p>
          <a:p>
            <a:pPr marL="342900" indent="-342900" algn="ctr">
              <a:spcAft>
                <a:spcPts val="0"/>
              </a:spcAft>
            </a:pPr>
            <a:r>
              <a:rPr lang="en-US" sz="1800" dirty="0" smtClean="0"/>
              <a:t>(3) The best way to protect IP is to keep it secret;</a:t>
            </a:r>
          </a:p>
          <a:p>
            <a:pPr marL="342900" indent="-342900" algn="ctr">
              <a:spcAft>
                <a:spcPts val="0"/>
              </a:spcAft>
            </a:pPr>
            <a:r>
              <a:rPr lang="en-US" sz="1800" dirty="0" smtClean="0"/>
              <a:t>but keeping it secret is difficult if the idea is valuable;</a:t>
            </a:r>
          </a:p>
          <a:p>
            <a:pPr marL="342900" indent="-342900" algn="ctr">
              <a:spcAft>
                <a:spcPts val="1200"/>
              </a:spcAft>
            </a:pPr>
            <a:r>
              <a:rPr lang="en-US" sz="1800" dirty="0" smtClean="0"/>
              <a:t>&amp; universities don’t keep secrets.</a:t>
            </a:r>
            <a:endParaRPr lang="en-US" sz="1600" dirty="0" smtClean="0"/>
          </a:p>
          <a:p>
            <a:pPr marL="342900" indent="-342900" algn="ctr">
              <a:spcAft>
                <a:spcPts val="0"/>
              </a:spcAft>
            </a:pPr>
            <a:r>
              <a:rPr lang="en-US" sz="1800" dirty="0" smtClean="0"/>
              <a:t>(4) The best patent to get is often not on the “big picture”;</a:t>
            </a:r>
          </a:p>
          <a:p>
            <a:pPr marL="342900" indent="-342900" algn="ctr">
              <a:spcAft>
                <a:spcPts val="1200"/>
              </a:spcAft>
            </a:pPr>
            <a:r>
              <a:rPr lang="en-US" sz="1800" dirty="0" smtClean="0"/>
              <a:t>it’s on the crucial detail.</a:t>
            </a:r>
            <a:endParaRPr lang="en-US" sz="1600" dirty="0" smtClean="0"/>
          </a:p>
          <a:p>
            <a:pPr marL="342900" indent="-342900" algn="ctr">
              <a:spcAft>
                <a:spcPts val="1200"/>
              </a:spcAft>
            </a:pPr>
            <a:r>
              <a:rPr lang="en-US" sz="1800" dirty="0" smtClean="0"/>
              <a:t>(5) The chair vs. the stool: beware of “dominating IP”.</a:t>
            </a:r>
            <a:endParaRPr lang="en-US" sz="1600" dirty="0" smtClean="0"/>
          </a:p>
          <a:p>
            <a:pPr marL="342900" indent="-342900" algn="ctr">
              <a:spcAft>
                <a:spcPts val="0"/>
              </a:spcAft>
            </a:pPr>
            <a:r>
              <a:rPr lang="en-US" sz="1800" dirty="0" smtClean="0"/>
              <a:t>(6) Wait as long as you can before filing;</a:t>
            </a:r>
          </a:p>
          <a:p>
            <a:pPr marL="342900" indent="-342900" algn="ctr">
              <a:spcAft>
                <a:spcPts val="1200"/>
              </a:spcAft>
            </a:pPr>
            <a:r>
              <a:rPr lang="en-US" sz="1800" dirty="0" smtClean="0"/>
              <a:t>but not too long.</a:t>
            </a:r>
            <a:endParaRPr lang="en-US" sz="1600" dirty="0" smtClean="0"/>
          </a:p>
          <a:p>
            <a:pPr marL="342900" indent="-342900" algn="ctr">
              <a:spcAft>
                <a:spcPts val="1200"/>
              </a:spcAft>
            </a:pPr>
            <a:r>
              <a:rPr lang="en-US" sz="1800" dirty="0" smtClean="0"/>
              <a:t>(7) Everyone involved should sign an IP assignment agreement.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9970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0"/>
            <a:ext cx="7162800" cy="762000"/>
          </a:xfrm>
        </p:spPr>
        <p:txBody>
          <a:bodyPr/>
          <a:lstStyle/>
          <a:p>
            <a:r>
              <a:rPr lang="en-US" sz="3200" dirty="0" smtClean="0"/>
              <a:t>A patent gives you limited rights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2286000"/>
            <a:ext cx="6934200" cy="2895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b="0" dirty="0" smtClean="0">
                <a:cs typeface="Times New Roman" pitchFamily="18" charset="0"/>
              </a:rPr>
              <a:t>A patent permits the owner to </a:t>
            </a:r>
            <a:r>
              <a:rPr lang="en-US" sz="2400" b="0" u="sng" dirty="0" smtClean="0">
                <a:cs typeface="Times New Roman" pitchFamily="18" charset="0"/>
              </a:rPr>
              <a:t>prohibit</a:t>
            </a:r>
            <a:r>
              <a:rPr lang="en-US" sz="2400" b="0" dirty="0" smtClean="0">
                <a:cs typeface="Times New Roman" pitchFamily="18" charset="0"/>
              </a:rPr>
              <a:t> someone from using the invention (through the courts)  </a:t>
            </a:r>
          </a:p>
          <a:p>
            <a:pPr>
              <a:lnSpc>
                <a:spcPct val="100000"/>
              </a:lnSpc>
            </a:pPr>
            <a:r>
              <a:rPr lang="en-US" sz="2400" b="0" dirty="0" smtClean="0">
                <a:cs typeface="Times New Roman" pitchFamily="18" charset="0"/>
              </a:rPr>
              <a:t>It doesn't </a:t>
            </a:r>
            <a:r>
              <a:rPr lang="en-US" sz="2400" b="0" u="sng" dirty="0" smtClean="0">
                <a:cs typeface="Times New Roman" pitchFamily="18" charset="0"/>
              </a:rPr>
              <a:t>allow</a:t>
            </a:r>
            <a:r>
              <a:rPr lang="en-US" sz="2400" b="0" dirty="0" smtClean="0">
                <a:cs typeface="Times New Roman" pitchFamily="18" charset="0"/>
              </a:rPr>
              <a:t> the owner the right to use the invention</a:t>
            </a:r>
          </a:p>
          <a:p>
            <a:pPr lvl="1">
              <a:lnSpc>
                <a:spcPct val="100000"/>
              </a:lnSpc>
            </a:pPr>
            <a:r>
              <a:rPr lang="en-US" sz="2200" b="0" dirty="0" smtClean="0">
                <a:cs typeface="Times New Roman" pitchFamily="18" charset="0"/>
              </a:rPr>
              <a:t>The use of the invention may </a:t>
            </a:r>
            <a:r>
              <a:rPr lang="en-US" sz="2200" b="0" u="sng" dirty="0" smtClean="0">
                <a:cs typeface="Times New Roman" pitchFamily="18" charset="0"/>
              </a:rPr>
              <a:t>infringe</a:t>
            </a:r>
            <a:r>
              <a:rPr lang="en-US" sz="2200" b="0" dirty="0" smtClean="0">
                <a:cs typeface="Times New Roman" pitchFamily="18" charset="0"/>
              </a:rPr>
              <a:t> on someone else's patent</a:t>
            </a:r>
            <a:r>
              <a:rPr lang="en-US" sz="2200" b="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0"/>
            <a:ext cx="7086600" cy="762000"/>
          </a:xfrm>
        </p:spPr>
        <p:txBody>
          <a:bodyPr/>
          <a:lstStyle/>
          <a:p>
            <a:r>
              <a:rPr lang="en-US" sz="4000" dirty="0" smtClean="0"/>
              <a:t>Patenting Process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1905000"/>
            <a:ext cx="6858000" cy="3124200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SzPct val="100000"/>
              <a:buFontTx/>
              <a:buAutoNum type="arabicPeriod"/>
              <a:defRPr/>
            </a:pPr>
            <a:r>
              <a:rPr lang="en-US" sz="1600" b="0" dirty="0" smtClean="0">
                <a:cs typeface="Times New Roman" pitchFamily="18" charset="0"/>
              </a:rPr>
              <a:t>Invention report (use our Technology Disclosure Form) to the TLO.</a:t>
            </a:r>
          </a:p>
          <a:p>
            <a:pPr marL="457200" indent="-457200">
              <a:lnSpc>
                <a:spcPct val="100000"/>
              </a:lnSpc>
              <a:buSzPct val="100000"/>
              <a:buFontTx/>
              <a:buAutoNum type="arabicPeriod"/>
              <a:defRPr/>
            </a:pPr>
            <a:r>
              <a:rPr lang="en-US" sz="1600" b="0" dirty="0" smtClean="0">
                <a:cs typeface="Times New Roman" pitchFamily="18" charset="0"/>
              </a:rPr>
              <a:t>Literature and patent search (the “Prior Art”). Do some of this before submitting the disclosure to the </a:t>
            </a:r>
            <a:r>
              <a:rPr lang="en-US" sz="1600" b="0" dirty="0" err="1" smtClean="0">
                <a:cs typeface="Times New Roman" pitchFamily="18" charset="0"/>
              </a:rPr>
              <a:t>TLO</a:t>
            </a:r>
            <a:r>
              <a:rPr lang="en-US" sz="1600" b="0" dirty="0" smtClean="0">
                <a:cs typeface="Times New Roman" pitchFamily="18" charset="0"/>
              </a:rPr>
              <a:t>.</a:t>
            </a:r>
          </a:p>
          <a:p>
            <a:pPr marL="457200" indent="-457200">
              <a:lnSpc>
                <a:spcPct val="100000"/>
              </a:lnSpc>
              <a:buSzPct val="100000"/>
              <a:buFontTx/>
              <a:buAutoNum type="arabicPeriod"/>
              <a:defRPr/>
            </a:pPr>
            <a:r>
              <a:rPr lang="en-US" sz="1600" b="0" dirty="0" smtClean="0">
                <a:cs typeface="Times New Roman" pitchFamily="18" charset="0"/>
              </a:rPr>
              <a:t>Patent application is prepared and filed by attorney. Then we wait…</a:t>
            </a:r>
          </a:p>
          <a:p>
            <a:pPr marL="457200" indent="-457200">
              <a:lnSpc>
                <a:spcPct val="100000"/>
              </a:lnSpc>
              <a:buSzPct val="100000"/>
              <a:buFontTx/>
              <a:buAutoNum type="arabicPeriod"/>
              <a:defRPr/>
            </a:pPr>
            <a:r>
              <a:rPr lang="en-US" sz="1600" b="0" dirty="0" smtClean="0">
                <a:cs typeface="Times New Roman" pitchFamily="18" charset="0"/>
              </a:rPr>
              <a:t>Patent Office responds (“Office Action”); it may take over 2 years to receive the first office action (rejecting most, if not all, claims).</a:t>
            </a:r>
          </a:p>
          <a:p>
            <a:pPr marL="457200" indent="-457200">
              <a:lnSpc>
                <a:spcPct val="100000"/>
              </a:lnSpc>
              <a:buSzPct val="100000"/>
              <a:buFontTx/>
              <a:buAutoNum type="arabicPeriod"/>
              <a:defRPr/>
            </a:pPr>
            <a:r>
              <a:rPr lang="en-US" sz="1600" b="0" dirty="0" smtClean="0">
                <a:cs typeface="Times New Roman" pitchFamily="18" charset="0"/>
              </a:rPr>
              <a:t>Arguing/negotiating with the Patent Office.</a:t>
            </a:r>
          </a:p>
          <a:p>
            <a:pPr marL="457200" indent="-457200">
              <a:lnSpc>
                <a:spcPct val="100000"/>
              </a:lnSpc>
              <a:buSzPct val="100000"/>
              <a:buFontTx/>
              <a:buAutoNum type="arabicPeriod"/>
              <a:defRPr/>
            </a:pPr>
            <a:r>
              <a:rPr lang="en-US" sz="1600" b="0" dirty="0" smtClean="0">
                <a:cs typeface="Times New Roman" pitchFamily="18" charset="0"/>
              </a:rPr>
              <a:t>Patent allowed (often with restrictions).</a:t>
            </a:r>
          </a:p>
          <a:p>
            <a:pPr marL="457200" indent="-457200">
              <a:lnSpc>
                <a:spcPct val="100000"/>
              </a:lnSpc>
              <a:buSzPct val="100000"/>
              <a:buFontTx/>
              <a:buAutoNum type="arabicPeriod"/>
              <a:defRPr/>
            </a:pPr>
            <a:r>
              <a:rPr lang="en-US" sz="1600" b="0" dirty="0" smtClean="0">
                <a:cs typeface="Times New Roman" pitchFamily="18" charset="0"/>
              </a:rPr>
              <a:t>Patent issued -- typically 3 years after filing.</a:t>
            </a:r>
          </a:p>
          <a:p>
            <a:pPr marL="457200" indent="-457200">
              <a:lnSpc>
                <a:spcPct val="100000"/>
              </a:lnSpc>
              <a:buSzPct val="100000"/>
              <a:buFontTx/>
              <a:buAutoNum type="arabicPeriod"/>
              <a:defRPr/>
            </a:pPr>
            <a:r>
              <a:rPr lang="en-US" sz="1600" b="0" dirty="0" smtClean="0">
                <a:cs typeface="Times New Roman" pitchFamily="18" charset="0"/>
              </a:rPr>
              <a:t>Duration:  20 years from date application was filed.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5188803"/>
            <a:ext cx="533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You don’t need to remember all this. We do it for you.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68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162800" cy="762000"/>
          </a:xfrm>
        </p:spPr>
        <p:txBody>
          <a:bodyPr/>
          <a:lstStyle/>
          <a:p>
            <a:r>
              <a:rPr lang="en-US" dirty="0" smtClean="0"/>
              <a:t>Provisional Patent Applications: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371600"/>
            <a:ext cx="7315200" cy="16764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b="0" dirty="0" smtClean="0">
                <a:cs typeface="Times New Roman" pitchFamily="18" charset="0"/>
              </a:rPr>
              <a:t>Low cost, quick; $100 fee for a “small entity”;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b="0" dirty="0" smtClean="0">
                <a:cs typeface="Times New Roman" pitchFamily="18" charset="0"/>
              </a:rPr>
              <a:t>Does not require “claims”;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b="0" dirty="0" smtClean="0">
                <a:cs typeface="Times New Roman" pitchFamily="18" charset="0"/>
              </a:rPr>
              <a:t>Establishes a “priority date” for subsequent full application;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b="0" dirty="0" smtClean="0">
                <a:cs typeface="Times New Roman" pitchFamily="18" charset="0"/>
              </a:rPr>
              <a:t>Can then be disclosed publicly.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 smtClean="0"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" y="51054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cs typeface="Times New Roman" pitchFamily="18" charset="0"/>
              </a:rPr>
              <a:t>We normally do Provisionals only if (a) there is </a:t>
            </a:r>
            <a:r>
              <a:rPr lang="en-US" sz="1600" dirty="0" smtClean="0">
                <a:cs typeface="Times New Roman" pitchFamily="18" charset="0"/>
              </a:rPr>
              <a:t>Publication/Disclosure </a:t>
            </a:r>
            <a:r>
              <a:rPr lang="en-US" sz="1600" dirty="0">
                <a:cs typeface="Times New Roman" pitchFamily="18" charset="0"/>
              </a:rPr>
              <a:t>time pressure; (b) </a:t>
            </a:r>
            <a:r>
              <a:rPr lang="en-US" sz="1600" u="sng" dirty="0">
                <a:cs typeface="Times New Roman" pitchFamily="18" charset="0"/>
              </a:rPr>
              <a:t>there is enough </a:t>
            </a:r>
            <a:r>
              <a:rPr lang="en-US" sz="1600" u="sng" dirty="0" smtClean="0">
                <a:cs typeface="Times New Roman" pitchFamily="18" charset="0"/>
              </a:rPr>
              <a:t>detail </a:t>
            </a:r>
            <a:r>
              <a:rPr lang="en-US" sz="1600" u="sng" dirty="0">
                <a:cs typeface="Times New Roman" pitchFamily="18" charset="0"/>
              </a:rPr>
              <a:t>in the Provisional to construct complete </a:t>
            </a:r>
            <a:r>
              <a:rPr lang="en-US" sz="1600" u="sng" dirty="0" err="1" smtClean="0">
                <a:cs typeface="Times New Roman" pitchFamily="18" charset="0"/>
              </a:rPr>
              <a:t>claims</a:t>
            </a:r>
            <a:r>
              <a:rPr lang="en-US" sz="1600" dirty="0" err="1" smtClean="0">
                <a:cs typeface="Times New Roman" pitchFamily="18" charset="0"/>
              </a:rPr>
              <a:t>;and</a:t>
            </a:r>
            <a:endParaRPr lang="en-US" sz="1600" dirty="0">
              <a:cs typeface="Times New Roman" pitchFamily="18" charset="0"/>
            </a:endParaRPr>
          </a:p>
          <a:p>
            <a:pPr algn="ctr"/>
            <a:r>
              <a:rPr lang="en-US" sz="1600" dirty="0" smtClean="0">
                <a:cs typeface="Times New Roman" pitchFamily="18" charset="0"/>
              </a:rPr>
              <a:t>(c) additional </a:t>
            </a:r>
            <a:r>
              <a:rPr lang="en-US" sz="1600" dirty="0">
                <a:cs typeface="Times New Roman" pitchFamily="18" charset="0"/>
              </a:rPr>
              <a:t>results will be available soon to strengthen the patent application</a:t>
            </a:r>
            <a:r>
              <a:rPr lang="en-US" sz="1600" dirty="0" smtClean="0">
                <a:cs typeface="Times New Roman" pitchFamily="18" charset="0"/>
              </a:rPr>
              <a:t>.</a:t>
            </a:r>
            <a:endParaRPr lang="en-US" sz="1600" dirty="0">
              <a:cs typeface="Times New Roman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14400" y="3505200"/>
            <a:ext cx="7315199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64" tIns="46033" rIns="92064" bIns="4603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25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2013" indent="-341313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chemeClr val="tx1"/>
                </a:solidFill>
                <a:latin typeface="+mn-lt"/>
              </a:defRPr>
            </a:lvl2pPr>
            <a:lvl3pPr marL="1204913" indent="-2286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600" b="1">
                <a:solidFill>
                  <a:schemeClr val="tx1"/>
                </a:solidFill>
                <a:latin typeface="+mn-lt"/>
              </a:defRPr>
            </a:lvl3pPr>
            <a:lvl4pPr marL="1546225" indent="-119063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5pPr>
            <a:lvl6pPr marL="22860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6pPr>
            <a:lvl7pPr marL="27432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7pPr>
            <a:lvl8pPr marL="32004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8pPr>
            <a:lvl9pPr marL="36576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"/>
            </a:pPr>
            <a:r>
              <a:rPr lang="en-US" b="0" kern="0" dirty="0" smtClean="0">
                <a:cs typeface="Times New Roman" pitchFamily="18" charset="0"/>
              </a:rPr>
              <a:t>Patent office takes no action </a:t>
            </a:r>
            <a:r>
              <a:rPr lang="en-US" b="0" i="1" kern="0" dirty="0" smtClean="0">
                <a:cs typeface="Times New Roman" pitchFamily="18" charset="0"/>
              </a:rPr>
              <a:t>(no validation</a:t>
            </a:r>
            <a:r>
              <a:rPr lang="en-US" b="0" kern="0" dirty="0" smtClean="0">
                <a:cs typeface="Times New Roman" pitchFamily="18" charset="0"/>
              </a:rPr>
              <a:t>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"/>
            </a:pPr>
            <a:r>
              <a:rPr lang="en-US" b="0" kern="0" dirty="0" smtClean="0">
                <a:cs typeface="Times New Roman" pitchFamily="18" charset="0"/>
              </a:rPr>
              <a:t>Forces a full patent application within 1 year;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"/>
            </a:pPr>
            <a:r>
              <a:rPr lang="en-US" b="0" kern="0" dirty="0" smtClean="0">
                <a:cs typeface="Times New Roman" pitchFamily="18" charset="0"/>
              </a:rPr>
              <a:t>Can block claim construction in full patent if only partially claimed in Provisional.</a:t>
            </a:r>
          </a:p>
          <a:p>
            <a:pPr>
              <a:lnSpc>
                <a:spcPct val="100000"/>
              </a:lnSpc>
            </a:pPr>
            <a:endParaRPr lang="en-US" b="0" kern="0" dirty="0" smtClean="0"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6200" y="29718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But…</a:t>
            </a:r>
            <a:endParaRPr lang="en-US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990600" y="304800"/>
            <a:ext cx="7162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64" tIns="46033" rIns="92064" bIns="4603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5pPr>
            <a:lvl6pPr marL="457200" algn="ctr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6pPr>
            <a:lvl7pPr marL="914400" algn="ctr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/>
              <a:t> </a:t>
            </a:r>
            <a:r>
              <a:rPr lang="en-US" kern="0" dirty="0" smtClean="0"/>
              <a:t/>
            </a:r>
            <a:br>
              <a:rPr lang="en-US" kern="0" dirty="0" smtClean="0"/>
            </a:br>
            <a:r>
              <a:rPr lang="en-US" kern="0" dirty="0" smtClean="0"/>
              <a:t>tempting but dangerous</a:t>
            </a:r>
          </a:p>
        </p:txBody>
      </p:sp>
    </p:spTree>
    <p:extLst>
      <p:ext uri="{BB962C8B-B14F-4D97-AF65-F5344CB8AC3E}">
        <p14:creationId xmlns:p14="http://schemas.microsoft.com/office/powerpoint/2010/main" val="380790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2" grpId="0"/>
      <p:bldP spid="7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7086600" cy="762000"/>
          </a:xfrm>
        </p:spPr>
        <p:txBody>
          <a:bodyPr/>
          <a:lstStyle/>
          <a:p>
            <a:r>
              <a:rPr lang="en-US" sz="3200" dirty="0" smtClean="0"/>
              <a:t>Non-U.S. patents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524000"/>
            <a:ext cx="6553200" cy="3886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b="0" dirty="0" smtClean="0"/>
              <a:t>Patent Cooperation Treaty (“PCT”):</a:t>
            </a:r>
          </a:p>
          <a:p>
            <a:pPr lvl="1">
              <a:lnSpc>
                <a:spcPct val="100000"/>
              </a:lnSpc>
            </a:pPr>
            <a:r>
              <a:rPr lang="en-US" sz="2400" b="0" dirty="0" smtClean="0"/>
              <a:t>Covers most countries;</a:t>
            </a:r>
          </a:p>
          <a:p>
            <a:pPr lvl="1">
              <a:lnSpc>
                <a:spcPct val="100000"/>
              </a:lnSpc>
            </a:pPr>
            <a:r>
              <a:rPr lang="en-US" sz="2400" b="0" dirty="0" smtClean="0"/>
              <a:t>Buys time;</a:t>
            </a:r>
          </a:p>
          <a:p>
            <a:pPr lvl="1">
              <a:lnSpc>
                <a:spcPct val="100000"/>
              </a:lnSpc>
            </a:pPr>
            <a:r>
              <a:rPr lang="en-US" sz="2400" b="0" dirty="0" smtClean="0"/>
              <a:t>Preliminary examination (feedback).</a:t>
            </a:r>
          </a:p>
          <a:p>
            <a:pPr>
              <a:lnSpc>
                <a:spcPct val="100000"/>
              </a:lnSpc>
            </a:pPr>
            <a:r>
              <a:rPr lang="en-US" sz="2400" b="0" dirty="0" smtClean="0"/>
              <a:t>International patent filings can be delayed up to 30 months from first filing date in US.</a:t>
            </a:r>
          </a:p>
          <a:p>
            <a:pPr>
              <a:lnSpc>
                <a:spcPct val="100000"/>
              </a:lnSpc>
            </a:pPr>
            <a:r>
              <a:rPr lang="en-US" sz="2400" b="0" dirty="0" smtClean="0"/>
              <a:t>Patenting internationally is very expensive. MIT usually won’t patent outside the US if the technology is not licensed.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81502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086600" cy="762000"/>
          </a:xfrm>
        </p:spPr>
        <p:txBody>
          <a:bodyPr/>
          <a:lstStyle/>
          <a:p>
            <a:r>
              <a:rPr lang="en-US" dirty="0" smtClean="0"/>
              <a:t>Research sponsorship &amp; MIT policy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447800"/>
            <a:ext cx="7620000" cy="4419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0" dirty="0" smtClean="0">
                <a:cs typeface="Times New Roman" pitchFamily="18" charset="0"/>
              </a:rPr>
              <a:t>M.I.T. owns the patent </a:t>
            </a:r>
            <a:r>
              <a:rPr lang="en-US" sz="1800" b="0" u="sng" dirty="0" smtClean="0">
                <a:cs typeface="Times New Roman" pitchFamily="18" charset="0"/>
              </a:rPr>
              <a:t>except</a:t>
            </a:r>
            <a:r>
              <a:rPr lang="en-US" sz="1800" b="0" dirty="0" smtClean="0">
                <a:cs typeface="Times New Roman" pitchFamily="18" charset="0"/>
              </a:rPr>
              <a:t> when:</a:t>
            </a:r>
          </a:p>
          <a:p>
            <a:pPr lvl="1">
              <a:lnSpc>
                <a:spcPct val="100000"/>
              </a:lnSpc>
            </a:pPr>
            <a:r>
              <a:rPr lang="en-US" b="0" dirty="0" smtClean="0">
                <a:cs typeface="Times New Roman" pitchFamily="18" charset="0"/>
              </a:rPr>
              <a:t>Not invented under sponsored research, and </a:t>
            </a:r>
          </a:p>
          <a:p>
            <a:pPr lvl="1">
              <a:lnSpc>
                <a:spcPct val="100000"/>
              </a:lnSpc>
            </a:pPr>
            <a:r>
              <a:rPr lang="en-US" b="0" dirty="0" smtClean="0">
                <a:cs typeface="Times New Roman" pitchFamily="18" charset="0"/>
              </a:rPr>
              <a:t>Made no significant use of MIT administered funds or facilities.</a:t>
            </a:r>
          </a:p>
          <a:p>
            <a:pPr>
              <a:lnSpc>
                <a:spcPct val="100000"/>
              </a:lnSpc>
            </a:pPr>
            <a:r>
              <a:rPr lang="en-US" sz="1800" b="0" dirty="0" smtClean="0">
                <a:cs typeface="Times New Roman" pitchFamily="18" charset="0"/>
              </a:rPr>
              <a:t>If industrially sponsored, sponsor(s) have the right to request a license.  Non-exclusive license is essentially free; exclusive license, if available, is royalty-bearing.</a:t>
            </a:r>
          </a:p>
          <a:p>
            <a:pPr>
              <a:lnSpc>
                <a:spcPct val="100000"/>
              </a:lnSpc>
            </a:pPr>
            <a:r>
              <a:rPr lang="en-US" sz="1800" b="0" dirty="0" smtClean="0">
                <a:cs typeface="Times New Roman" pitchFamily="18" charset="0"/>
              </a:rPr>
              <a:t>If government-sponsored, MIT notifies sponsor of invention disclosure and MIT must decide if it will file a patent application within two years.</a:t>
            </a:r>
          </a:p>
          <a:p>
            <a:pPr lvl="1">
              <a:lnSpc>
                <a:spcPct val="100000"/>
              </a:lnSpc>
            </a:pPr>
            <a:r>
              <a:rPr lang="en-US" b="0" dirty="0" smtClean="0">
                <a:cs typeface="Times New Roman" pitchFamily="18" charset="0"/>
              </a:rPr>
              <a:t>If “yes”, government gets a royalty-free, government-purposes license;</a:t>
            </a:r>
          </a:p>
          <a:p>
            <a:pPr lvl="1">
              <a:lnSpc>
                <a:spcPct val="100000"/>
              </a:lnSpc>
            </a:pPr>
            <a:r>
              <a:rPr lang="en-US" b="0" dirty="0" smtClean="0">
                <a:cs typeface="Times New Roman" pitchFamily="18" charset="0"/>
              </a:rPr>
              <a:t>If “no”, MIT waives its ownership right to the government.</a:t>
            </a:r>
          </a:p>
          <a:p>
            <a:pPr>
              <a:lnSpc>
                <a:spcPct val="100000"/>
              </a:lnSpc>
            </a:pPr>
            <a:r>
              <a:rPr lang="en-US" sz="1800" b="0" dirty="0" smtClean="0">
                <a:cs typeface="Times New Roman" pitchFamily="18" charset="0"/>
              </a:rPr>
              <a:t>After recovery of costs and 15% to fund the Technology Licensing Office (TLO), inventors receive one-third of license revenue.</a:t>
            </a:r>
          </a:p>
        </p:txBody>
      </p:sp>
    </p:spTree>
    <p:extLst>
      <p:ext uri="{BB962C8B-B14F-4D97-AF65-F5344CB8AC3E}">
        <p14:creationId xmlns:p14="http://schemas.microsoft.com/office/powerpoint/2010/main" val="243350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305800" cy="685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smtClean="0">
                <a:cs typeface="Times New Roman" pitchFamily="18" charset="0"/>
              </a:rPr>
              <a:t>Spin-out support at MIT</a:t>
            </a:r>
            <a:endParaRPr lang="en-US" sz="2400" dirty="0" smtClean="0">
              <a:cs typeface="Times New Roman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981200"/>
            <a:ext cx="6096000" cy="3581400"/>
          </a:xfrm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b="0" dirty="0" err="1" smtClean="0">
                <a:solidFill>
                  <a:schemeClr val="tx1"/>
                </a:solidFill>
                <a:cs typeface="Times New Roman" pitchFamily="18" charset="0"/>
              </a:rPr>
              <a:t>Deshpande</a:t>
            </a: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 Center supports research with spinout potential</a:t>
            </a: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MIT Energy Initiative (</a:t>
            </a:r>
            <a:r>
              <a:rPr lang="en-US" b="0" dirty="0" err="1" smtClean="0">
                <a:solidFill>
                  <a:schemeClr val="tx1"/>
                </a:solidFill>
                <a:cs typeface="Times New Roman" pitchFamily="18" charset="0"/>
              </a:rPr>
              <a:t>MITEI</a:t>
            </a: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) Seed Grants</a:t>
            </a: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MIT Energy Club and other special-interest clubs</a:t>
            </a: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Entrepreneurship Center &amp; E-Ventures</a:t>
            </a: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cs typeface="Times New Roman" pitchFamily="18" charset="0"/>
              </a:rPr>
              <a:t>Sloan </a:t>
            </a:r>
            <a:r>
              <a:rPr lang="en-US" b="0" dirty="0" err="1" smtClean="0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-Teams</a:t>
            </a: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Venture Mentoring Service</a:t>
            </a: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MIT Enterprise Forum</a:t>
            </a: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cs typeface="Times New Roman" pitchFamily="18" charset="0"/>
              </a:rPr>
              <a:t>Business Plan competitions</a:t>
            </a:r>
          </a:p>
          <a:p>
            <a:pPr eaLnBrk="1" hangingPunct="1">
              <a:spcBef>
                <a:spcPts val="600"/>
              </a:spcBef>
            </a:pPr>
            <a:r>
              <a:rPr lang="en-US" b="0" dirty="0" smtClean="0">
                <a:solidFill>
                  <a:schemeClr val="tx1"/>
                </a:solidFill>
                <a:cs typeface="Times New Roman" pitchFamily="18" charset="0"/>
              </a:rPr>
              <a:t>Etc… make use of the ecosystem!</a:t>
            </a:r>
          </a:p>
        </p:txBody>
      </p:sp>
    </p:spTree>
    <p:extLst>
      <p:ext uri="{BB962C8B-B14F-4D97-AF65-F5344CB8AC3E}">
        <p14:creationId xmlns:p14="http://schemas.microsoft.com/office/powerpoint/2010/main" val="27134855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533400"/>
            <a:ext cx="7162800" cy="990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 smtClean="0"/>
              <a:t>Getting that “exclusive” license for your startup company: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324097" y="2099370"/>
            <a:ext cx="65245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You don’t get the license from MIT without funding from investors…</a:t>
            </a:r>
          </a:p>
          <a:p>
            <a:pPr algn="ctr"/>
            <a:r>
              <a:rPr lang="en-US" sz="2800" dirty="0" smtClean="0"/>
              <a:t>and</a:t>
            </a:r>
          </a:p>
          <a:p>
            <a:pPr algn="ctr"/>
            <a:r>
              <a:rPr lang="en-US" sz="2800" dirty="0"/>
              <a:t>You don’t get </a:t>
            </a:r>
            <a:r>
              <a:rPr lang="en-US" sz="2800" dirty="0" smtClean="0"/>
              <a:t>funding </a:t>
            </a:r>
            <a:r>
              <a:rPr lang="en-US" sz="2800" dirty="0"/>
              <a:t>from </a:t>
            </a:r>
            <a:r>
              <a:rPr lang="en-US" sz="2800" dirty="0" smtClean="0"/>
              <a:t>investors </a:t>
            </a:r>
            <a:r>
              <a:rPr lang="en-US" sz="2800" dirty="0"/>
              <a:t>without the license</a:t>
            </a:r>
            <a:r>
              <a:rPr lang="en-US" sz="2800" dirty="0" smtClean="0"/>
              <a:t>.</a:t>
            </a:r>
          </a:p>
          <a:p>
            <a:pPr algn="ctr"/>
            <a:endParaRPr lang="en-US" sz="2800" dirty="0" smtClean="0"/>
          </a:p>
          <a:p>
            <a:pPr algn="ctr"/>
            <a:r>
              <a:rPr lang="en-US" sz="2800" dirty="0" smtClean="0"/>
              <a:t>?</a:t>
            </a:r>
          </a:p>
          <a:p>
            <a:pPr algn="ctr"/>
            <a:r>
              <a:rPr lang="en-US" sz="2800" dirty="0" smtClean="0"/>
              <a:t>“License Option”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65514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81000"/>
            <a:ext cx="5943600" cy="762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 smtClean="0"/>
              <a:t>What is in the license?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7315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Your rights as licensee</a:t>
            </a:r>
            <a:r>
              <a:rPr lang="en-US" dirty="0" smtClean="0"/>
              <a:t>: Exclusivity, Field Of Use, Territory, Term, sublicense rights, improvements.</a:t>
            </a:r>
          </a:p>
          <a:p>
            <a:endParaRPr lang="en-US" dirty="0" smtClean="0"/>
          </a:p>
          <a:p>
            <a:r>
              <a:rPr lang="en-US" u="sng" dirty="0" smtClean="0"/>
              <a:t>Your obligations</a:t>
            </a:r>
            <a:r>
              <a:rPr lang="en-US" dirty="0" smtClean="0"/>
              <a:t> (“Diligence”): Raising money, product development schedule, sales plan.</a:t>
            </a:r>
          </a:p>
          <a:p>
            <a:endParaRPr lang="en-US" dirty="0" smtClean="0"/>
          </a:p>
          <a:p>
            <a:r>
              <a:rPr lang="en-US" u="sng" dirty="0" smtClean="0"/>
              <a:t>Cost of the license</a:t>
            </a:r>
            <a:r>
              <a:rPr lang="en-US" dirty="0" smtClean="0"/>
              <a:t>: License and Maintenance fees, Royalty, Sublicense fees, Equity.</a:t>
            </a:r>
          </a:p>
          <a:p>
            <a:endParaRPr lang="en-US" dirty="0" smtClean="0"/>
          </a:p>
          <a:p>
            <a:r>
              <a:rPr lang="en-US" u="sng" dirty="0" smtClean="0"/>
              <a:t>The fine print</a:t>
            </a:r>
            <a:r>
              <a:rPr lang="en-US" dirty="0" smtClean="0"/>
              <a:t>: Reps and warranties, who deals with infringers, assignability.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0570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81000"/>
            <a:ext cx="7162800" cy="914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 smtClean="0"/>
              <a:t>What are the investors thinking about while you are pitching?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4572000"/>
            <a:ext cx="746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 smtClean="0"/>
              <a:t>Does this deal make sense for me?</a:t>
            </a:r>
          </a:p>
          <a:p>
            <a:pPr algn="ctr"/>
            <a:r>
              <a:rPr lang="en-US" sz="1600" dirty="0" smtClean="0"/>
              <a:t>Is this the size and type of deal that I like to do? Am I familiar with the space?</a:t>
            </a:r>
          </a:p>
          <a:p>
            <a:pPr algn="ctr"/>
            <a:r>
              <a:rPr lang="en-US" sz="1600" dirty="0" smtClean="0"/>
              <a:t>How much money do they need now? Later?</a:t>
            </a:r>
          </a:p>
          <a:p>
            <a:pPr algn="ctr"/>
            <a:r>
              <a:rPr lang="en-US" sz="1600" dirty="0" smtClean="0"/>
              <a:t>Who else will co-invest with me?</a:t>
            </a:r>
          </a:p>
          <a:p>
            <a:pPr algn="ctr"/>
            <a:r>
              <a:rPr lang="en-US" sz="1600" dirty="0" smtClean="0"/>
              <a:t>How and when do we get our money out?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22048"/>
            <a:ext cx="73152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 smtClean="0"/>
              <a:t>How experienced and trust-worthy and committed is this team?</a:t>
            </a:r>
          </a:p>
          <a:p>
            <a:pPr algn="ctr"/>
            <a:r>
              <a:rPr lang="en-US" sz="1600" dirty="0" smtClean="0"/>
              <a:t>Have they done it before (together); can they do it now;</a:t>
            </a:r>
          </a:p>
          <a:p>
            <a:pPr algn="ctr"/>
            <a:r>
              <a:rPr lang="en-US" sz="1600" dirty="0" smtClean="0"/>
              <a:t>will they burn their boats; can I work with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894"/>
            <a:ext cx="82296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 smtClean="0"/>
              <a:t>Are potential customers convinced of the benefit of this technology?</a:t>
            </a:r>
          </a:p>
          <a:p>
            <a:pPr algn="ctr"/>
            <a:r>
              <a:rPr lang="en-US" sz="1600" dirty="0" smtClean="0"/>
              <a:t>Has it been validated by prospective customers;</a:t>
            </a:r>
          </a:p>
          <a:p>
            <a:pPr algn="ctr"/>
            <a:r>
              <a:rPr lang="en-US" sz="1600" dirty="0" smtClean="0"/>
              <a:t>can they stay ahead of the competition’s future products; how soon do sales 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581400"/>
            <a:ext cx="71628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 smtClean="0"/>
              <a:t>How profitable is this business?</a:t>
            </a:r>
          </a:p>
          <a:p>
            <a:pPr algn="ctr"/>
            <a:r>
              <a:rPr lang="en-US" sz="1600" dirty="0" smtClean="0"/>
              <a:t>Margins; Overhead; Time to market; Risk;</a:t>
            </a:r>
          </a:p>
          <a:p>
            <a:pPr algn="ctr"/>
            <a:r>
              <a:rPr lang="en-US" sz="1600" dirty="0" smtClean="0"/>
              <a:t>(When the venture runs into problems, when competitors fight back.)</a:t>
            </a:r>
          </a:p>
        </p:txBody>
      </p:sp>
    </p:spTree>
    <p:extLst>
      <p:ext uri="{BB962C8B-B14F-4D97-AF65-F5344CB8AC3E}">
        <p14:creationId xmlns:p14="http://schemas.microsoft.com/office/powerpoint/2010/main" val="28697705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762000"/>
          </a:xfrm>
        </p:spPr>
        <p:txBody>
          <a:bodyPr/>
          <a:lstStyle/>
          <a:p>
            <a:r>
              <a:rPr lang="en-US" dirty="0" smtClean="0"/>
              <a:t>Go for it! Good luck!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 algn="ctr">
              <a:lnSpc>
                <a:spcPct val="100000"/>
              </a:lnSpc>
              <a:buFontTx/>
              <a:buNone/>
            </a:pPr>
            <a:r>
              <a:rPr lang="en-US" b="0" dirty="0" smtClean="0"/>
              <a:t>And remember:</a:t>
            </a:r>
          </a:p>
          <a:p>
            <a:pPr algn="ctr">
              <a:lnSpc>
                <a:spcPct val="100000"/>
              </a:lnSpc>
              <a:buFontTx/>
              <a:buNone/>
            </a:pPr>
            <a:r>
              <a:rPr lang="en-US" b="0" dirty="0" smtClean="0"/>
              <a:t>When in doubt, contact us to discuss! We are here to assist you.</a:t>
            </a:r>
          </a:p>
          <a:p>
            <a:pPr algn="ctr">
              <a:lnSpc>
                <a:spcPct val="100000"/>
              </a:lnSpc>
              <a:buFontTx/>
              <a:buNone/>
            </a:pPr>
            <a:endParaRPr lang="en-US" b="0" dirty="0" smtClean="0"/>
          </a:p>
          <a:p>
            <a:pPr algn="ctr">
              <a:lnSpc>
                <a:spcPct val="100000"/>
              </a:lnSpc>
              <a:buFontTx/>
              <a:buNone/>
            </a:pPr>
            <a:r>
              <a:rPr lang="en-US" b="0" dirty="0" smtClean="0"/>
              <a:t>Chris Noble</a:t>
            </a:r>
          </a:p>
          <a:p>
            <a:pPr algn="ctr">
              <a:lnSpc>
                <a:spcPct val="100000"/>
              </a:lnSpc>
              <a:buFontTx/>
              <a:buNone/>
            </a:pPr>
            <a:r>
              <a:rPr lang="en-US" b="0" dirty="0" smtClean="0"/>
              <a:t>Technology Licensing Officer</a:t>
            </a:r>
          </a:p>
          <a:p>
            <a:pPr algn="ctr">
              <a:lnSpc>
                <a:spcPct val="100000"/>
              </a:lnSpc>
              <a:buFontTx/>
              <a:buNone/>
            </a:pPr>
            <a:endParaRPr lang="en-US" b="0" dirty="0" smtClean="0"/>
          </a:p>
          <a:p>
            <a:pPr algn="ctr">
              <a:lnSpc>
                <a:spcPct val="100000"/>
              </a:lnSpc>
              <a:buFontTx/>
              <a:buNone/>
            </a:pPr>
            <a:r>
              <a:rPr lang="en-US" sz="1600" b="0" dirty="0" smtClean="0"/>
              <a:t>One Cambridge Center </a:t>
            </a:r>
            <a:r>
              <a:rPr lang="en-US" sz="1600" b="0" dirty="0" err="1" smtClean="0"/>
              <a:t>NE18</a:t>
            </a:r>
            <a:r>
              <a:rPr lang="en-US" sz="1600" b="0" dirty="0" smtClean="0"/>
              <a:t>-501</a:t>
            </a:r>
          </a:p>
          <a:p>
            <a:pPr algn="ctr">
              <a:lnSpc>
                <a:spcPct val="100000"/>
              </a:lnSpc>
              <a:buFontTx/>
              <a:buNone/>
            </a:pPr>
            <a:r>
              <a:rPr lang="en-US" sz="1600" b="0" dirty="0" smtClean="0"/>
              <a:t>(Across from Au Bon Pain on Main Street in Kendall Square)</a:t>
            </a:r>
          </a:p>
          <a:p>
            <a:pPr algn="ctr">
              <a:lnSpc>
                <a:spcPct val="100000"/>
              </a:lnSpc>
              <a:buFontTx/>
              <a:buNone/>
            </a:pPr>
            <a:r>
              <a:rPr lang="en-US" sz="1600" b="0" dirty="0" smtClean="0"/>
              <a:t> </a:t>
            </a:r>
            <a:r>
              <a:rPr lang="en-US" sz="1600" b="0" dirty="0" smtClean="0">
                <a:hlinkClick r:id="rId3"/>
              </a:rPr>
              <a:t>crn@mit.edu</a:t>
            </a:r>
            <a:endParaRPr lang="en-US" sz="1600" b="0" dirty="0" smtClean="0"/>
          </a:p>
          <a:p>
            <a:pPr algn="ctr">
              <a:lnSpc>
                <a:spcPct val="100000"/>
              </a:lnSpc>
              <a:buFontTx/>
              <a:buNone/>
            </a:pPr>
            <a:r>
              <a:rPr lang="en-US" sz="1600" b="0" dirty="0" smtClean="0"/>
              <a:t>617-253-6966</a:t>
            </a:r>
          </a:p>
          <a:p>
            <a:pPr algn="ctr">
              <a:lnSpc>
                <a:spcPct val="100000"/>
              </a:lnSpc>
              <a:buFontTx/>
              <a:buNone/>
            </a:pPr>
            <a:r>
              <a:rPr lang="en-US" sz="1600" b="0" u="sng" dirty="0" smtClean="0">
                <a:solidFill>
                  <a:srgbClr val="FF0000"/>
                </a:solidFill>
              </a:rPr>
              <a:t>web.mit.edu/</a:t>
            </a:r>
            <a:r>
              <a:rPr lang="en-US" sz="1600" b="0" u="sng" dirty="0" err="1" smtClean="0">
                <a:solidFill>
                  <a:srgbClr val="FF0000"/>
                </a:solidFill>
              </a:rPr>
              <a:t>tlo</a:t>
            </a:r>
            <a:endParaRPr lang="en-US" sz="1600" b="0" u="sng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C-White-50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NC-White-5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C-White-50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-White-50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-White-50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-White-50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-White-50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-White-50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-White-50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Settings\peb\Application Data\Microsoft\Templates\Lincoln\NC-White-50.pot</Template>
  <TotalTime>3130</TotalTime>
  <Pages>1</Pages>
  <Words>1481</Words>
  <Application>Microsoft Office PowerPoint</Application>
  <PresentationFormat>On-screen Show (4:3)</PresentationFormat>
  <Paragraphs>182</Paragraphs>
  <Slides>17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NC-White-50</vt:lpstr>
      <vt:lpstr>Protect your invention &amp; turn it into a startup!</vt:lpstr>
      <vt:lpstr>All this “Inventions” stuff…</vt:lpstr>
      <vt:lpstr>What is a patentable invention?</vt:lpstr>
      <vt:lpstr>Who are the inventors?</vt:lpstr>
      <vt:lpstr>Who can you disclose your invention to? (without a signed “NDA”)</vt:lpstr>
      <vt:lpstr>Does MIT own everything I invent?</vt:lpstr>
      <vt:lpstr>7 patenting tips:</vt:lpstr>
      <vt:lpstr>A patent gives you limited rights</vt:lpstr>
      <vt:lpstr>Patenting Process</vt:lpstr>
      <vt:lpstr>Provisional Patent Applications: </vt:lpstr>
      <vt:lpstr>Non-U.S. patents</vt:lpstr>
      <vt:lpstr>Research sponsorship &amp; MIT policy</vt:lpstr>
      <vt:lpstr>Spin-out support at MIT</vt:lpstr>
      <vt:lpstr>Getting that “exclusive” license for your startup company:</vt:lpstr>
      <vt:lpstr>What is in the license?</vt:lpstr>
      <vt:lpstr>What are the investors thinking about while you are pitching?</vt:lpstr>
      <vt:lpstr>Go for it! Good luck!</vt:lpstr>
    </vt:vector>
  </TitlesOfParts>
  <Company>MIT Lincoln Laboratory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Commercializing Your Technology: Inventions, Patents and MIT/LL Policy and Practice</dc:title>
  <dc:creator>Standard Desktop</dc:creator>
  <cp:lastModifiedBy>Christopher Noble</cp:lastModifiedBy>
  <cp:revision>182</cp:revision>
  <cp:lastPrinted>2001-06-18T18:57:59Z</cp:lastPrinted>
  <dcterms:created xsi:type="dcterms:W3CDTF">2001-10-24T16:37:30Z</dcterms:created>
  <dcterms:modified xsi:type="dcterms:W3CDTF">2015-11-18T19:37:51Z</dcterms:modified>
</cp:coreProperties>
</file>